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Terrasses parisiennes et signalements citoyens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9D6E4"/>
                </a:solidFill>
                <a:latin typeface="Calibri"/>
              </a:rPr>
              <a:t>Existe-t-il un lien mesurable entre les terrasses commerciales et les signalements</a:t>
            </a:r>
          </a:p>
          <a:p>
            <a:pPr algn="l"/>
            <a:r>
              <a:rPr sz="1800" b="0" i="0">
                <a:solidFill>
                  <a:srgbClr val="C9D6E4"/>
                </a:solidFill>
                <a:latin typeface="Calibri"/>
              </a:rPr>
              <a:t>d'anomalies sur l'espace public a Paris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FA5BD"/>
                </a:solidFill>
                <a:latin typeface="Calibri"/>
              </a:rPr>
              <a:t>Etude a partir des donnees ouvertes de la Ville de Paris  —  opendata.paris.fr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Contexte et hypothese de depart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B5563"/>
                </a:solidFill>
                <a:latin typeface="Calibri"/>
              </a:rPr>
              <a:t>La Ville de Paris autorise l'installation de terrasses commerciales sur l'espace public. Ces installations occupent la voie publique et sont potentiellement associees a des nuisances que les riverains peuvent signaler via l'application Dans Ma Rue.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468880"/>
            <a:ext cx="11155680" cy="1005840"/>
          </a:xfrm>
          <a:prstGeom prst="rect">
            <a:avLst/>
          </a:prstGeom>
          <a:solidFill>
            <a:srgbClr val="F2F3F5"/>
          </a:solidFill>
          <a:ln w="12700">
            <a:solidFill>
              <a:srgbClr val="2F66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Calibri"/>
              </a:rPr>
              <a:t>Hypothese de depart : existe-t-il une relation mesurable entre la presence, la nature ou la densite des terrasses et les signalements d'anomalies sur l'espace public environnant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749039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B5563"/>
                </a:solidFill>
                <a:latin typeface="Calibri"/>
              </a:rPr>
              <a:t>Cette question a ete declinee en quatre hypotheses testables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06240"/>
            <a:ext cx="10789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4B5563"/>
                </a:solidFill>
                <a:latin typeface="Calibri"/>
              </a:rPr>
              <a:t>•  H1 — La presence d'une terrasse est-elle associee a un profil de signalement different ?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4B5563"/>
                </a:solidFill>
                <a:latin typeface="Calibri"/>
              </a:rPr>
              <a:t>•  H2 — La typologie de la terrasse (ouverte, fermee, etalage...) influence-t-elle le type de signalement ?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4B5563"/>
                </a:solidFill>
                <a:latin typeface="Calibri"/>
              </a:rPr>
              <a:t>•  H1-bis — La densite de terrasses par arrondissement est-elle associee au volume de signalements commerciaux ?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4B5563"/>
                </a:solidFill>
                <a:latin typeface="Calibri"/>
              </a:rPr>
              <a:t>•  H3 — La periode d'installation saisonniere influence-t-elle le moment des signalements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Methode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D6E4"/>
                </a:solidFill>
                <a:latin typeface="Calibri"/>
              </a:rPr>
              <a:t>Les donnees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solidFill>
            <a:srgbClr val="2F6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Jeu de donnees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Lignes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Contenu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10881360" cy="59436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terrasses-autorisations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148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24 207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148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Autorisations de terrasses et etalages commerciaux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108813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dans-ma-rue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788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1 474 285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788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Signalements citoyens d'anomalies sur l'espace public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337560"/>
            <a:ext cx="10881360" cy="59436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429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quartier_paris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429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429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Referentiel geographique (surface par quartier)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062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B5563"/>
                </a:solidFill>
                <a:latin typeface="Calibri"/>
              </a:rPr>
              <a:t>Point d'attention rencontre 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B5563"/>
                </a:solidFill>
                <a:latin typeface="Calibri"/>
              </a:rPr>
              <a:t>Le jeu « dans-ma-rue-historique-anomalies-signalees », qui semblait la source naturelle, s'est revele non-interrogeable (simple conteneur de fichiers ZIP annuels, sans API de requete). Le jeu reellement exploitable est « dans-ma-rue », disponible en direct et mis a jour quotidiennement.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4B5563"/>
                </a:solidFill>
                <a:latin typeface="Calibri"/>
              </a:rPr>
              <a:t>Donnees extraites le 22 aout 2026 depuis l'API Open Data Paris.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Methode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D6E4"/>
                </a:solidFill>
                <a:latin typeface="Calibri"/>
              </a:rPr>
              <a:t>Traitements et outils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Calibri"/>
              </a:rPr>
              <a:t>Traitements appliques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4B5563"/>
                </a:solidFill>
                <a:latin typeface="Calibri"/>
              </a:rPr>
              <a:t>•  Harmonisation du champ arrondissement (code postal vs numero brut)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B5563"/>
                </a:solidFill>
                <a:latin typeface="Calibri"/>
              </a:rPr>
              <a:t>•  Normalisation des adresses (casse, accents, code postal) pour permettre une jointure textuelle fiable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B5563"/>
                </a:solidFill>
                <a:latin typeface="Calibri"/>
              </a:rPr>
              <a:t>•  Gestion de l'ambiguite d'attribution : adresses avec plusieurs terrasses distinctes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B5563"/>
                </a:solidFill>
                <a:latin typeface="Calibri"/>
              </a:rPr>
              <a:t>•  Jointure terrasses / signalements sur l'adresse normalisee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B5563"/>
                </a:solidFill>
                <a:latin typeface="Calibri"/>
              </a:rPr>
              <a:t>•  Agregation geographique par arrondissement pour l'analyse de densite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Calibri"/>
              </a:rPr>
              <a:t>Outils utilises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4B5563"/>
                </a:solidFill>
                <a:latin typeface="Calibri"/>
              </a:rPr>
              <a:t>•  Python : pandas, numpy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B5563"/>
                </a:solidFill>
                <a:latin typeface="Calibri"/>
              </a:rPr>
              <a:t>•  Statistiques : scipy (Khi2, correlations), statsmodels (regression OLS)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B5563"/>
                </a:solidFill>
                <a:latin typeface="Calibri"/>
              </a:rPr>
              <a:t>•  Geographie : geopandas (surfaces par arrondissement)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B5563"/>
                </a:solidFill>
                <a:latin typeface="Calibri"/>
              </a:rPr>
              <a:t>•  Visualisation : matplotlib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B5563"/>
                </a:solidFill>
                <a:latin typeface="Calibri"/>
              </a:rPr>
              <a:t>•  Extraction : API Open Data Paris (requests)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B5563"/>
                </a:solidFill>
                <a:latin typeface="Calibri"/>
              </a:rPr>
              <a:t>•  Versionnage : Git /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H1 — Presence d'une terrasse et type de signalement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760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Question : a la meme adresse qu'une terrasse, les signalements ont-ils une composition differente de celle observee ailleurs ?</a:t>
            </a:r>
          </a:p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/>
            </a:r>
          </a:p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Methode : tableau croise (type de signalement x presence d'une terrasse), test du Khi2, puis V de Cramer pour mesurer la force du lien independamment de la taille de l'echantillon.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840480"/>
            <a:ext cx="5760720" cy="228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Calibri"/>
              </a:rPr>
              <a:t>V de Cramer = 0,157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720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Association statistiquement significative, mais faible.</a:t>
            </a:r>
          </a:p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/>
            </a:r>
          </a:p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Resultat : H1 soutenue.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Calibri"/>
              </a:rPr>
              <a:t>5</a:t>
            </a:r>
          </a:p>
        </p:txBody>
      </p:sp>
      <p:pic>
        <p:nvPicPr>
          <p:cNvPr id="10" name="Picture 9" descr="chart_h1_fix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463040"/>
            <a:ext cx="512064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H2 — Typologie de terrasse et type de signalement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B5563"/>
                </a:solidFill>
                <a:latin typeface="Calibri"/>
              </a:rPr>
              <a:t>Question : parmi les terrasses, celles de typologie differente (terrasse fermee, ouverte, etalage, contre-terrasse...) generent-elles des profils de signalement differents ?</a:t>
            </a:r>
          </a:p>
          <a:p>
            <a:pPr algn="l"/>
            <a:r>
              <a:rPr sz="1600" b="0" i="0">
                <a:solidFill>
                  <a:srgbClr val="4B5563"/>
                </a:solidFill>
                <a:latin typeface="Calibri"/>
              </a:rPr>
              <a:t/>
            </a:r>
          </a:p>
          <a:p>
            <a:pPr algn="l"/>
            <a:r>
              <a:rPr sz="1600" b="0" i="0">
                <a:solidFill>
                  <a:srgbClr val="4B5563"/>
                </a:solidFill>
                <a:latin typeface="Calibri"/>
              </a:rPr>
              <a:t>Methode : meme principe que H1, restreint aux adresses n'ayant qu'une seule terrasse (attribution non ambigue), croisant typologie et type de signalement.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0" y="3200400"/>
            <a:ext cx="7772400" cy="21031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51760" y="34290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F3A5F"/>
                </a:solidFill>
                <a:latin typeface="Calibri"/>
              </a:rPr>
              <a:t>V de Cramer = 0,075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411480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B5563"/>
                </a:solidFill>
                <a:latin typeface="Calibri"/>
              </a:rPr>
              <a:t>Association negligeable, malgre un p-value nul (echantillon tres large,</a:t>
            </a:r>
          </a:p>
          <a:p>
            <a:pPr algn="ctr"/>
            <a:r>
              <a:rPr sz="1600" b="0" i="0">
                <a:solidFill>
                  <a:srgbClr val="4B5563"/>
                </a:solidFill>
                <a:latin typeface="Calibri"/>
              </a:rPr>
              <a:t>test tres sensible au moindre ecart).</a:t>
            </a:r>
          </a:p>
          <a:p>
            <a:pPr algn="ctr"/>
            <a:r>
              <a:rPr sz="1600" b="0" i="0">
                <a:solidFill>
                  <a:srgbClr val="4B5563"/>
                </a:solidFill>
                <a:latin typeface="Calibri"/>
              </a:rPr>
              <a:t/>
            </a:r>
          </a:p>
          <a:p>
            <a:pPr algn="ctr"/>
            <a:r>
              <a:rPr sz="1600" b="0" i="0">
                <a:solidFill>
                  <a:srgbClr val="4B5563"/>
                </a:solidFill>
                <a:latin typeface="Calibri"/>
              </a:rPr>
              <a:t>Resultat : H2 non soutenue.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H1-bis — Densite de terrasses et signalements commerciaux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760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4B5563"/>
                </a:solidFill>
                <a:latin typeface="Calibri"/>
              </a:rPr>
              <a:t>Question : les arrondissements a forte concentration de terrasses ont-ils, proportionnellement, davantage de signalements commerciaux ?</a:t>
            </a:r>
          </a:p>
          <a:p>
            <a:pPr algn="l"/>
            <a:r>
              <a:rPr sz="1450" b="0" i="0">
                <a:solidFill>
                  <a:srgbClr val="4B5563"/>
                </a:solidFill>
                <a:latin typeface="Calibri"/>
              </a:rPr>
              <a:t/>
            </a:r>
          </a:p>
          <a:p>
            <a:pPr algn="l"/>
            <a:r>
              <a:rPr sz="1450" b="0" i="0">
                <a:solidFill>
                  <a:srgbClr val="4B5563"/>
                </a:solidFill>
                <a:latin typeface="Calibri"/>
              </a:rPr>
              <a:t>Point de vigilance : une premiere comparaison de deux ratios partageant la surface comme denominateur donnait une correlation tres forte (0,89), mais artificielle (correlation fallacieuse des ratios). Corrigee via deux verifications independantes.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114800"/>
            <a:ext cx="5760720" cy="20116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251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A5F"/>
                </a:solidFill>
                <a:latin typeface="Calibri"/>
              </a:rPr>
              <a:t>Spearman = 0,544 (p = 0,013 ; n = 20 arrondissements)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70916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4B5563"/>
                </a:solidFill>
                <a:latin typeface="Calibri"/>
              </a:rPr>
              <a:t>Regression OLS : coefficient nb_terrasses significatif</a:t>
            </a:r>
          </a:p>
          <a:p>
            <a:r>
              <a:rPr sz="1400">
                <a:solidFill>
                  <a:srgbClr val="4B5563"/>
                </a:solidFill>
                <a:latin typeface="Calibri"/>
              </a:rPr>
              <a:t>(p = 0,013) meme apres controle de la surface.</a:t>
            </a:r>
          </a:p>
          <a:p>
            <a:r>
              <a:rPr sz="1400">
                <a:solidFill>
                  <a:srgbClr val="4B5563"/>
                </a:solidFill>
                <a:latin typeface="Calibri"/>
              </a:rPr>
              <a:t/>
            </a:r>
          </a:p>
          <a:p>
            <a:r>
              <a:rPr sz="1400">
                <a:solidFill>
                  <a:srgbClr val="4B5563"/>
                </a:solidFill>
                <a:latin typeface="Calibri"/>
              </a:rPr>
              <a:t>Resultat : signal positif modere, robustesse variable</a:t>
            </a:r>
          </a:p>
          <a:p>
            <a:r>
              <a:rPr sz="1400">
                <a:solidFill>
                  <a:srgbClr val="4B5563"/>
                </a:solidFill>
                <a:latin typeface="Calibri"/>
              </a:rPr>
              <a:t>selon le modele.</a:t>
            </a:r>
          </a:p>
          <a:p>
            <a:r>
              <a:rPr sz="1400">
                <a:solidFill>
                  <a:srgbClr val="4B5563"/>
                </a:solidFill>
                <a:latin typeface="Calibri"/>
              </a:rPr>
              <a:t/>
            </a:r>
          </a:p>
          <a:p>
            <a:r>
              <a:rPr sz="1400" b="1">
                <a:solidFill>
                  <a:srgbClr val="1F3A5F"/>
                </a:solidFill>
                <a:latin typeface="Calibri"/>
              </a:rPr>
              <a:t>Association ecologique (niveau arrondissement) -- ne</a:t>
            </a:r>
          </a:p>
          <a:p>
            <a:r>
              <a:rPr sz="1400">
                <a:solidFill>
                  <a:srgbClr val="4B5563"/>
                </a:solidFill>
                <a:latin typeface="Calibri"/>
              </a:rPr>
              <a:t>permet pas de conclure au niveau d'une terrasse individuelle.</a:t>
            </a:r>
          </a:p>
        </p:txBody>
      </p:sp>
      <p:pic>
        <p:nvPicPr>
          <p:cNvPr id="8" name="Picture 7" descr="chart_h1b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5120640" cy="37551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H3 — Saisonnalite et moment des signalements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B5563"/>
                </a:solidFill>
                <a:latin typeface="Calibri"/>
              </a:rPr>
              <a:t>Question : un signalement lie a une terrasse saisonniere survient-il plus souvent pendant sa periode d'activite que ne le voudrait le hasard ?</a:t>
            </a:r>
          </a:p>
          <a:p>
            <a:pPr algn="l"/>
            <a:r>
              <a:rPr sz="1600" b="0" i="0">
                <a:solidFill>
                  <a:srgbClr val="4B5563"/>
                </a:solidFill>
                <a:latin typeface="Calibri"/>
              </a:rPr>
              <a:t/>
            </a:r>
          </a:p>
          <a:p>
            <a:pPr algn="l"/>
            <a:r>
              <a:rPr sz="1600" b="0" i="0">
                <a:solidFill>
                  <a:srgbClr val="4B5563"/>
                </a:solidFill>
                <a:latin typeface="Calibri"/>
              </a:rPr>
              <a:t>Methode : comparaison, par simulation Monte Carlo, du nombre observe de signalements « dans la periode active » au nombre attendu sous l'hypothese de hasard (la probabilite variant d'une terrasse a l'autre selon la duree de sa periode).</a:t>
            </a:r>
          </a:p>
        </p:txBody>
      </p:sp>
      <p:sp>
        <p:nvSpPr>
          <p:cNvPr id="5" name="Rectangle 4"/>
          <p:cNvSpPr/>
          <p:nvPr/>
        </p:nvSpPr>
        <p:spPr>
          <a:xfrm>
            <a:off x="1737360" y="3383280"/>
            <a:ext cx="8686800" cy="21031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356616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F3A5F"/>
                </a:solidFill>
                <a:latin typeface="Calibri"/>
              </a:rPr>
              <a:t>Observe : 13   —   Attendu : 10,75   —   p = 0,37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206240"/>
            <a:ext cx="8138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B5563"/>
                </a:solidFill>
                <a:latin typeface="Calibri"/>
              </a:rPr>
              <a:t>Non significatif. Avec seulement 20 observations exploitables, le test manque de</a:t>
            </a:r>
          </a:p>
          <a:p>
            <a:pPr algn="ctr"/>
            <a:r>
              <a:rPr sz="1500" b="0" i="0">
                <a:solidFill>
                  <a:srgbClr val="4B5563"/>
                </a:solidFill>
                <a:latin typeface="Calibri"/>
              </a:rPr>
              <a:t>puissance statistique. Absence de preuve d'effet ≠ preuve d'absence d'effet.</a:t>
            </a:r>
          </a:p>
          <a:p>
            <a:pPr algn="ctr"/>
            <a:r>
              <a:rPr sz="1500" b="0" i="0">
                <a:solidFill>
                  <a:srgbClr val="4B5563"/>
                </a:solidFill>
                <a:latin typeface="Calibri"/>
              </a:rPr>
              <a:t/>
            </a:r>
          </a:p>
          <a:p>
            <a:pPr algn="ctr"/>
            <a:r>
              <a:rPr sz="1500" b="0" i="0">
                <a:solidFill>
                  <a:srgbClr val="4B5563"/>
                </a:solidFill>
                <a:latin typeface="Calibri"/>
              </a:rPr>
              <a:t>Resultat : H3 non concluante.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Synthese des resultats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10881360" cy="502920"/>
          </a:xfrm>
          <a:prstGeom prst="rect">
            <a:avLst/>
          </a:prstGeom>
          <a:solidFill>
            <a:srgbClr val="2F6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Hypothese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6916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691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Resultat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10881360" cy="8686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Calibri"/>
              </a:rPr>
              <a:t>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33172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B5563"/>
                </a:solidFill>
                <a:latin typeface="Calibri"/>
              </a:rPr>
              <a:t>Presence d'une terrasse / type de signalement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33172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4B5563"/>
                </a:solidFill>
                <a:latin typeface="Calibri"/>
              </a:rPr>
              <a:t>Soutenue — faible (V = 0,157)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54680"/>
            <a:ext cx="108813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3756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Calibri"/>
              </a:rPr>
              <a:t>H2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29184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B5563"/>
                </a:solidFill>
                <a:latin typeface="Calibri"/>
              </a:rPr>
              <a:t>Typologie de terrasse / type de signalement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9184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4B5563"/>
                </a:solidFill>
                <a:latin typeface="Calibri"/>
              </a:rPr>
              <a:t>Non soutenue — negligeable (V = 0,075)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14800"/>
            <a:ext cx="10881360" cy="8686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Calibri"/>
              </a:rPr>
              <a:t>H1-bis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25196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B5563"/>
                </a:solidFill>
                <a:latin typeface="Calibri"/>
              </a:rPr>
              <a:t>Densite de terrasses / signalements commerciaux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25196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4B5563"/>
                </a:solidFill>
                <a:latin typeface="Calibri"/>
              </a:rPr>
              <a:t>Signal positif modere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074920"/>
            <a:ext cx="108813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25780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Calibri"/>
              </a:rPr>
              <a:t>H3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21208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B5563"/>
                </a:solidFill>
                <a:latin typeface="Calibri"/>
              </a:rPr>
              <a:t>Saisonnalite / moment des signalements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21208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4B5563"/>
                </a:solidFill>
                <a:latin typeface="Calibri"/>
              </a:rPr>
              <a:t>Non concluante (n = 20)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43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Calibri"/>
              </a:rPr>
              <a:t>Chaque hypothese a suivi le meme cycle : construction des variables, test initial, verification des hypotheses statistiques, correction si necessaire, conclusion proportionnee aux donnees disponibles.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Limites et incertitudes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4B5563"/>
                </a:solidFill>
                <a:latin typeface="Calibri"/>
              </a:rPr>
              <a:t>•  La jointure par adresse ne couvre que 80,9 % des terrasses ; les 19 % non appariees pourraient differer systematiquement des autres (biais non explore).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4B5563"/>
                </a:solidFill>
                <a:latin typeface="Calibri"/>
              </a:rPr>
              <a:t>•  Les analyses par zone (H1-bis) mesurent une association ecologique, au niveau des arrondissements — elles ne permettent pas de conclure a un effet au niveau d'une terrasse individuelle.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4B5563"/>
                </a:solidFill>
                <a:latin typeface="Calibri"/>
              </a:rPr>
              <a:t>•  Aucune des analyses ne permet d'etablir une relation causale : correlation observee, pas de mecanisme demontre.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4B5563"/>
                </a:solidFill>
                <a:latin typeface="Calibri"/>
              </a:rPr>
              <a:t>•  Dans Ma Rue est un canal declaratif : une zone avec davantage de signalements peut refleter des riverains plus actifs sur l'application, pas necessairement davantage de problemes reels.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4B5563"/>
                </a:solidFill>
                <a:latin typeface="Calibri"/>
              </a:rPr>
              <a:t>•  Les echantillons agreges par arrondissement (H1-bis, H3) sont petits (n = 20), ce qui limite la puissance statistique des tests correspondants.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Recommandations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0876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B5563"/>
                </a:solidFill>
                <a:latin typeface="Calibri"/>
              </a:rPr>
              <a:t>La densite de terrasses est une piste a explorer pour cibler la surveillance, pas une regle a appliquer telle quelle : signal base sur 20 arrondissements, sans controle du flux pieton ni de la densite commerciale generale -- a valider a l'echelle rue ou etablissement avant toute application operationnelle.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10896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B5563"/>
                </a:solidFill>
                <a:latin typeface="Calibri"/>
              </a:rPr>
              <a:t>Ne pas differencier les priorites d'inspection selon la typologie de terrasse — cette variable n'apporte pas d'information exploitable sur le type de signalement a attendre.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4754880"/>
            <a:ext cx="548640" cy="548640"/>
          </a:xfrm>
          <a:prstGeom prst="ellipse">
            <a:avLst/>
          </a:prstGeom>
          <a:solidFill>
            <a:srgbClr val="E0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470916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B5563"/>
                </a:solidFill>
                <a:latin typeface="Calibri"/>
              </a:rPr>
              <a:t>Ameliorer la collecte du champ periode d'installation avant de pouvoir exploiter la saisonnalite dans une politique d'inspection — la donnee actuelle est trop incomplete pour trancher.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56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9D6E4"/>
                </a:solidFill>
                <a:latin typeface="Calibri"/>
              </a:rPr>
              <a:t>Questions et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FA5BD"/>
                </a:solidFill>
                <a:latin typeface="Calibri"/>
              </a:rPr>
              <a:t>Code et notebooks : voir le depot Git associe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